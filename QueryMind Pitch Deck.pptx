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5-10.svg" ContentType="image/svg+xml"/>
  <Override PartName="/ppt/media/image-5-2.svg" ContentType="image/svg+xml"/>
  <Override PartName="/ppt/media/image-5-4.svg" ContentType="image/svg+xml"/>
  <Override PartName="/ppt/media/image-5-6.svg" ContentType="image/svg+xml"/>
  <Override PartName="/ppt/media/image-5-8.svg" ContentType="image/svg+xml"/>
  <Override PartName="/ppt/media/image-6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oppins Light"/>
      <p:regular r:id="rId201314"/>
    </p:embeddedFont>
    <p:embeddedFont>
      <p:font typeface="Roboto Ligh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1.png"/><Relationship Id="rId7" Type="http://schemas.openxmlformats.org/officeDocument/2006/relationships/image" Target="../media/image-3-2.png"/><Relationship Id="rId8" Type="http://schemas.openxmlformats.org/officeDocument/2006/relationships/image" Target="../media/image-3-3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1.png"/><Relationship Id="rId10" Type="http://schemas.openxmlformats.org/officeDocument/2006/relationships/image" Target="../media/image-6-2.svg"/><Relationship Id="rId11" Type="http://schemas.openxmlformats.org/officeDocument/2006/relationships/image" Target="../media/image-6-1.png"/><Relationship Id="rId12" Type="http://schemas.openxmlformats.org/officeDocument/2006/relationships/image" Target="../media/image-6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43195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QueryMind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306068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D9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Ask Better Questions. Discover Better Insights.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AI-Powered Conversational Data Analytics — Turn natural-language questions into SQL, results, and visual insights.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33438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Is Everywhere. Understanding It Isn't.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365177"/>
            <a:ext cx="2929360" cy="359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Organizations have massive amounts of data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Accessing useful insights often requires technical knowledge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SQL creates a barrier for non-technical users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Traditional workflows require switching between datasets, query tools, and visualization platforms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Simple business questions can require significant technical effort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905946" y="2211685"/>
            <a:ext cx="3188116" cy="3812778"/>
          </a:xfrm>
          <a:prstGeom prst="roundRect">
            <a:avLst>
              <a:gd name="adj" fmla="val 4055"/>
            </a:avLst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085428" y="2382242"/>
            <a:ext cx="282915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D9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Traditional Path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085428" y="2833291"/>
            <a:ext cx="2829152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Raw Data → SQL / Technical Complexity → Multiple Tools → Delayed Insights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085428" y="3910310"/>
            <a:ext cx="2829152" cy="25400"/>
          </a:xfrm>
          <a:prstGeom prst="roundRect">
            <a:avLst>
              <a:gd name="adj" fmla="val 49999"/>
            </a:avLst>
          </a:prstGeom>
          <a:solidFill>
            <a:srgbClr val="E5E0DF">
              <a:alpha val="50000"/>
            </a:srgbClr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54701" y="4325938"/>
            <a:ext cx="2559879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People shouldn't need to be SQL experts to ask questions about their data.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085428" y="4172446"/>
            <a:ext cx="25399" cy="1147266"/>
          </a:xfrm>
          <a:prstGeom prst="roundRect">
            <a:avLst>
              <a:gd name="adj" fmla="val 50001"/>
            </a:avLst>
          </a:prstGeom>
          <a:solidFill>
            <a:srgbClr val="F2F2F3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If You Could Just </a:t>
            </a:r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0D9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Ask</a:t>
            </a:r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Your Data?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294606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Traditional Analytics Workflow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66875"/>
            <a:ext cx="756028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8447" y="1818084"/>
            <a:ext cx="437295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Question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574131"/>
            <a:ext cx="756028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8447" y="2725341"/>
            <a:ext cx="437295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Find Data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481388"/>
            <a:ext cx="756028" cy="9072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38447" y="3632597"/>
            <a:ext cx="437295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Write SQL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388644"/>
            <a:ext cx="756028" cy="9072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38447" y="4539853"/>
            <a:ext cx="437295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Debug &amp; Run</a:t>
            </a:r>
            <a:endParaRPr lang="en-US" sz="14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5295900"/>
            <a:ext cx="756028" cy="90725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538447" y="5447109"/>
            <a:ext cx="437295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Build Chart</a:t>
            </a:r>
            <a:endParaRPr lang="en-US" sz="1450" dirty="0"/>
          </a:p>
        </p:txBody>
      </p:sp>
      <p:sp>
        <p:nvSpPr>
          <p:cNvPr id="14" name="Shape 7"/>
          <p:cNvSpPr/>
          <p:nvPr/>
        </p:nvSpPr>
        <p:spPr>
          <a:xfrm>
            <a:off x="6177800" y="1173659"/>
            <a:ext cx="5467610" cy="5165527"/>
          </a:xfrm>
          <a:prstGeom prst="roundRect">
            <a:avLst>
              <a:gd name="adj" fmla="val 2108"/>
            </a:avLst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15" name="Text 8"/>
          <p:cNvSpPr/>
          <p:nvPr/>
        </p:nvSpPr>
        <p:spPr>
          <a:xfrm>
            <a:off x="6329006" y="1294606"/>
            <a:ext cx="516519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D9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QueryMind Workflow</a:t>
            </a:r>
            <a:endParaRPr lang="en-US" sz="14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9006" y="1666875"/>
            <a:ext cx="756028" cy="9072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205978" y="1818084"/>
            <a:ext cx="428822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Question</a:t>
            </a:r>
            <a:endParaRPr lang="en-US" sz="14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9006" y="2574131"/>
            <a:ext cx="756028" cy="9072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205978" y="2725341"/>
            <a:ext cx="428822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</a:t>
            </a:r>
            <a:endParaRPr lang="en-US" sz="14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9006" y="3481388"/>
            <a:ext cx="756028" cy="90725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205978" y="3632597"/>
            <a:ext cx="428822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Insight</a:t>
            </a:r>
            <a:endParaRPr lang="en-US" sz="1450" dirty="0"/>
          </a:p>
        </p:txBody>
      </p:sp>
      <p:sp>
        <p:nvSpPr>
          <p:cNvPr id="22" name="Text 12"/>
          <p:cNvSpPr/>
          <p:nvPr/>
        </p:nvSpPr>
        <p:spPr>
          <a:xfrm>
            <a:off x="6329006" y="4524673"/>
            <a:ext cx="577478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Natural language becomes the interface between people and data.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53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Meet QueryMind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0402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QueryMind transforms natural-language questions into executable analytics in a single unified workflow.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519065"/>
            <a:ext cx="10868745" cy="2032595"/>
          </a:xfrm>
          <a:prstGeom prst="roundRect">
            <a:avLst>
              <a:gd name="adj" fmla="val 3906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67825" y="2525415"/>
            <a:ext cx="5428023" cy="673298"/>
          </a:xfrm>
          <a:custGeom>
            <a:avLst/>
            <a:gdLst/>
            <a:ahLst/>
            <a:cxnLst/>
            <a:rect l="l" t="t" r="r" b="b"/>
            <a:pathLst>
              <a:path w="5428023" h="673298">
                <a:moveTo>
                  <a:pt x="66156" y="0"/>
                </a:moveTo>
                <a:lnTo>
                  <a:pt x="5428023" y="0"/>
                </a:lnTo>
                <a:lnTo>
                  <a:pt x="5428023" y="673298"/>
                </a:lnTo>
                <a:lnTo>
                  <a:pt x="0" y="673298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3D3D4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6832" y="2714427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Upload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6095848" y="2525415"/>
            <a:ext cx="5428023" cy="673298"/>
          </a:xfrm>
          <a:custGeom>
            <a:avLst/>
            <a:gdLst/>
            <a:ahLst/>
            <a:cxnLst/>
            <a:rect l="l" t="t" r="r" b="b"/>
            <a:pathLst>
              <a:path w="5428023" h="673298">
                <a:moveTo>
                  <a:pt x="0" y="0"/>
                </a:moveTo>
                <a:lnTo>
                  <a:pt x="5361866" y="0"/>
                </a:lnTo>
                <a:arcTo hR="66158" wR="66156" stAng="16200000" swAng="5400000"/>
                <a:lnTo>
                  <a:pt x="5428023" y="673298"/>
                </a:lnTo>
                <a:lnTo>
                  <a:pt x="0" y="673298"/>
                </a:lnTo>
                <a:lnTo>
                  <a:pt x="0" y="0"/>
                </a:lnTo>
                <a:close/>
              </a:path>
            </a:pathLst>
          </a:custGeom>
          <a:solidFill>
            <a:srgbClr val="3D3D42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95848" y="2525415"/>
            <a:ext cx="25399" cy="673298"/>
          </a:xfrm>
          <a:prstGeom prst="roundRect">
            <a:avLst>
              <a:gd name="adj" fmla="val 50001"/>
            </a:avLst>
          </a:prstGeom>
          <a:solidFill>
            <a:srgbClr val="56565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84854" y="2714427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Ask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67825" y="3198713"/>
            <a:ext cx="5428023" cy="673298"/>
          </a:xfrm>
          <a:prstGeom prst="rect">
            <a:avLst/>
          </a:prstGeom>
          <a:solidFill>
            <a:srgbClr val="3D3D4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67825" y="3198713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6832" y="3387725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Understand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6095848" y="3198713"/>
            <a:ext cx="5428023" cy="673298"/>
          </a:xfrm>
          <a:prstGeom prst="rect">
            <a:avLst/>
          </a:prstGeom>
          <a:solidFill>
            <a:srgbClr val="3D3D42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95848" y="3198713"/>
            <a:ext cx="25399" cy="673298"/>
          </a:xfrm>
          <a:prstGeom prst="roundRect">
            <a:avLst>
              <a:gd name="adj" fmla="val 50001"/>
            </a:avLst>
          </a:prstGeom>
          <a:solidFill>
            <a:srgbClr val="56565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095848" y="3198713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84854" y="3387725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Generate SQL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667825" y="3872012"/>
            <a:ext cx="5428023" cy="673298"/>
          </a:xfrm>
          <a:custGeom>
            <a:avLst/>
            <a:gdLst/>
            <a:ahLst/>
            <a:cxnLst/>
            <a:rect l="l" t="t" r="r" b="b"/>
            <a:pathLst>
              <a:path w="5428023" h="673298">
                <a:moveTo>
                  <a:pt x="0" y="0"/>
                </a:moveTo>
                <a:lnTo>
                  <a:pt x="5428023" y="0"/>
                </a:lnTo>
                <a:lnTo>
                  <a:pt x="5428023" y="673298"/>
                </a:lnTo>
                <a:lnTo>
                  <a:pt x="66156" y="673298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3D3D42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67825" y="3872012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6832" y="4061023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Analyze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6095848" y="3872012"/>
            <a:ext cx="5428023" cy="673298"/>
          </a:xfrm>
          <a:custGeom>
            <a:avLst/>
            <a:gdLst/>
            <a:ahLst/>
            <a:cxnLst/>
            <a:rect l="l" t="t" r="r" b="b"/>
            <a:pathLst>
              <a:path w="5428023" h="673298">
                <a:moveTo>
                  <a:pt x="0" y="0"/>
                </a:moveTo>
                <a:lnTo>
                  <a:pt x="5428023" y="0"/>
                </a:lnTo>
                <a:lnTo>
                  <a:pt x="5428023" y="607140"/>
                </a:lnTo>
                <a:arcTo hR="66158" wR="66156" stAng="0" swAng="5400000"/>
                <a:lnTo>
                  <a:pt x="0" y="673298"/>
                </a:lnTo>
                <a:lnTo>
                  <a:pt x="0" y="0"/>
                </a:lnTo>
                <a:close/>
              </a:path>
            </a:pathLst>
          </a:custGeom>
          <a:solidFill>
            <a:srgbClr val="3D3D4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095848" y="3872012"/>
            <a:ext cx="25399" cy="673298"/>
          </a:xfrm>
          <a:prstGeom prst="roundRect">
            <a:avLst>
              <a:gd name="adj" fmla="val 50001"/>
            </a:avLst>
          </a:prstGeom>
          <a:solidFill>
            <a:srgbClr val="56565B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095848" y="3872012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84854" y="4061023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Visualize</a:t>
            </a:r>
            <a:endParaRPr lang="en-US" sz="1850" dirty="0"/>
          </a:p>
        </p:txBody>
      </p:sp>
      <p:sp>
        <p:nvSpPr>
          <p:cNvPr id="24" name="Shape 22"/>
          <p:cNvSpPr/>
          <p:nvPr/>
        </p:nvSpPr>
        <p:spPr>
          <a:xfrm>
            <a:off x="661475" y="4764286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3D3D42"/>
          </a:solidFill>
          <a:ln/>
        </p:spPr>
        <p:txBody>
          <a:bodyPr/>
          <a:p/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031978"/>
            <a:ext cx="236234" cy="18901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75723" y="5000526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"Show me the top 10 products by sales." → Natural Language → Generated SQL → Results Table → Bar Chart.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 question. One workflow. Multiple insights.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45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From Question to Insight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5324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86196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D9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 — Upload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270647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Upload a dataset into QueryMind.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15324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286196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D9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 — Ask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270647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Ask a question naturally.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153245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286196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D9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 — Generate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270647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 converts the question into SQL.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951089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465980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D9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 — Analyze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61475" y="5068491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Execute the query and return structured results.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3951089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63135" y="465980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D9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05 — Visualize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363135" y="5068491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Turn results into charts for faster understanding.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One Workspace. </a:t>
            </a:r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00D9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Everything You Need.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28763"/>
            <a:ext cx="5215303" cy="11409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7954" y="1733649"/>
            <a:ext cx="47039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📁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Dataset Upload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7954" y="2184698"/>
            <a:ext cx="470394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Bring your data into the workspace.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40236"/>
            <a:ext cx="5215303" cy="11409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7954" y="3045123"/>
            <a:ext cx="47039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Natural Language Query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967954" y="3496171"/>
            <a:ext cx="470394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Ask questions without writing SQL.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51709"/>
            <a:ext cx="5215303" cy="11409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954" y="4356596"/>
            <a:ext cx="47039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Generated SQL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67954" y="4807645"/>
            <a:ext cx="470394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See the exact query produced by the AI.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21267" y="1528763"/>
            <a:ext cx="5215303" cy="11409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27746" y="1733649"/>
            <a:ext cx="47039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Results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627746" y="2184698"/>
            <a:ext cx="470394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Explore structured analytical results.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21267" y="2840236"/>
            <a:ext cx="5215303" cy="114091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27746" y="3045123"/>
            <a:ext cx="47039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Interactive Charts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6627746" y="3496171"/>
            <a:ext cx="470394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Understand patterns visually.</a:t>
            </a:r>
            <a:endParaRPr lang="en-US" sz="14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21267" y="4151709"/>
            <a:ext cx="5215303" cy="114091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627746" y="4356596"/>
            <a:ext cx="47039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🕘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Query History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6627746" y="4807645"/>
            <a:ext cx="470394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Revisit previous analysis anytime.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930748" y="5868293"/>
            <a:ext cx="1120905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QueryMind doesn't just give an answer — it shows </a:t>
            </a:r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how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the answer was queried.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661475" y="5676404"/>
            <a:ext cx="25399" cy="663873"/>
          </a:xfrm>
          <a:prstGeom prst="roundRect">
            <a:avLst>
              <a:gd name="adj" fmla="val 50001"/>
            </a:avLst>
          </a:prstGeom>
          <a:solidFill>
            <a:srgbClr val="F2F2F3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1145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Why </a:t>
            </a:r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00D9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QueryMind</a:t>
            </a:r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?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80" y="2165846"/>
            <a:ext cx="3343191" cy="33432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25165" y="1600101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4692533" y="1633786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199726" y="1661815"/>
            <a:ext cx="6336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Conversational Analytics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199726" y="2112863"/>
            <a:ext cx="633674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Ask questions the way you think — no syntax required.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25165" y="2734072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692533" y="2767757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199726" y="2795786"/>
            <a:ext cx="6336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Transparent AI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199726" y="3246834"/>
            <a:ext cx="633674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Generated SQL keeps the analytical process fully visible and auditable.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25165" y="3868043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692533" y="3901728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5199726" y="3929757"/>
            <a:ext cx="6336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Insight + Visualization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199726" y="4380805"/>
            <a:ext cx="633674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Move directly from query results to understandable charts.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25165" y="5002014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692533" y="5035699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5199726" y="5063728"/>
            <a:ext cx="6336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Accessible Data Exploration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5199726" y="5514777"/>
            <a:ext cx="6336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Reduce the technical barrier between people and their data. 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Designed to evolve toward multilingual analytics.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960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 + Data + Analytics, </a:t>
            </a:r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00D9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Connected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210" y="1668562"/>
            <a:ext cx="6565736" cy="28314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979" y="3963026"/>
            <a:ext cx="1489564" cy="18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 / LLM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75979" y="3307602"/>
            <a:ext cx="1489564" cy="18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FastAPI Backend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275979" y="2658798"/>
            <a:ext cx="1492563" cy="18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QueryMind Frontend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275979" y="2003374"/>
            <a:ext cx="1489564" cy="18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User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017270" y="2307034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Stack Highlights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017270" y="2758083"/>
            <a:ext cx="3519201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QueryMind combines a conversational AI interface with a powerful analytical data layer — a bridge between human questions and data-driven answers.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1475" y="4883745"/>
            <a:ext cx="2589247" cy="1314648"/>
          </a:xfrm>
          <a:prstGeom prst="roundRect">
            <a:avLst>
              <a:gd name="adj" fmla="val 573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47307" y="5069582"/>
            <a:ext cx="22175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Frontend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47307" y="5452368"/>
            <a:ext cx="221758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React · TypeScript · Tailwind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421275" y="4883745"/>
            <a:ext cx="2589247" cy="1314648"/>
          </a:xfrm>
          <a:prstGeom prst="roundRect">
            <a:avLst>
              <a:gd name="adj" fmla="val 573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607107" y="5069582"/>
            <a:ext cx="22175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Backend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3607107" y="5452368"/>
            <a:ext cx="221758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FastAPI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81074" y="4883745"/>
            <a:ext cx="2589247" cy="1314648"/>
          </a:xfrm>
          <a:prstGeom prst="roundRect">
            <a:avLst>
              <a:gd name="adj" fmla="val 573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66906" y="5069582"/>
            <a:ext cx="22175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 / LLM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366906" y="5452368"/>
            <a:ext cx="22175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Natural Language Understanding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940874" y="4883745"/>
            <a:ext cx="2589346" cy="1314648"/>
          </a:xfrm>
          <a:prstGeom prst="roundRect">
            <a:avLst>
              <a:gd name="adj" fmla="val 573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126706" y="5069582"/>
            <a:ext cx="221768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Layer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9126706" y="5452368"/>
            <a:ext cx="22176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Exasol Analytical Platform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75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Where QueryMind Goes 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0D9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Next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126258"/>
            <a:ext cx="3496877" cy="3574157"/>
          </a:xfrm>
          <a:prstGeom prst="roundRect">
            <a:avLst>
              <a:gd name="adj" fmla="val 22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56832" y="2321620"/>
            <a:ext cx="571982" cy="287139"/>
          </a:xfrm>
          <a:prstGeom prst="roundRect">
            <a:avLst>
              <a:gd name="adj" fmla="val 22118"/>
            </a:avLst>
          </a:prstGeom>
          <a:solidFill>
            <a:srgbClr val="25252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70236" y="2378273"/>
            <a:ext cx="34517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NOW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56832" y="2821384"/>
            <a:ext cx="310616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Natural-language analytics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SQL generation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Interactive visualizations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Query history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Modern analytics workspace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2126258"/>
            <a:ext cx="3496877" cy="3574157"/>
          </a:xfrm>
          <a:prstGeom prst="roundRect">
            <a:avLst>
              <a:gd name="adj" fmla="val 22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42716" y="2321620"/>
            <a:ext cx="60293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F2F2F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56120" y="2378273"/>
            <a:ext cx="37612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NEXT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42716" y="2821384"/>
            <a:ext cx="310616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Full multilingual query support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Broader file-format support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Automated dashboard generation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AI-generated analytical reports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Exportable insights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126258"/>
            <a:ext cx="3496877" cy="3574157"/>
          </a:xfrm>
          <a:prstGeom prst="roundRect">
            <a:avLst>
              <a:gd name="adj" fmla="val 22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228600" y="2321620"/>
            <a:ext cx="782816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F2F2F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42005" y="2378273"/>
            <a:ext cx="55600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FUTURE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8600" y="2821384"/>
            <a:ext cx="3106164" cy="2683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Conversational data exploration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Intelligent chart recommendations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Personalized analytics workspaces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Deeper Exasol-powered workflows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Advanced AI-assisted analytics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9055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Make Data Something You Can </a:t>
            </a:r>
            <a:pPr algn="ctr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00D9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Talk To.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326806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QueryMind turns data from something you query into something you can talk to.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085530"/>
            <a:ext cx="6296860" cy="1359297"/>
          </a:xfrm>
          <a:prstGeom prst="roundRect">
            <a:avLst>
              <a:gd name="adj" fmla="val 584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67825" y="4091880"/>
            <a:ext cx="3142080" cy="673298"/>
          </a:xfrm>
          <a:custGeom>
            <a:avLst/>
            <a:gdLst/>
            <a:ahLst/>
            <a:cxnLst/>
            <a:rect l="l" t="t" r="r" b="b"/>
            <a:pathLst>
              <a:path w="3142080" h="673298">
                <a:moveTo>
                  <a:pt x="66156" y="0"/>
                </a:moveTo>
                <a:lnTo>
                  <a:pt x="3142080" y="0"/>
                </a:lnTo>
                <a:lnTo>
                  <a:pt x="3142080" y="673298"/>
                </a:lnTo>
                <a:lnTo>
                  <a:pt x="0" y="673298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3D3D42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56832" y="4280892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Ask a Question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3809905" y="4091880"/>
            <a:ext cx="3142080" cy="673298"/>
          </a:xfrm>
          <a:custGeom>
            <a:avLst/>
            <a:gdLst/>
            <a:ahLst/>
            <a:cxnLst/>
            <a:rect l="l" t="t" r="r" b="b"/>
            <a:pathLst>
              <a:path w="3142080" h="673298">
                <a:moveTo>
                  <a:pt x="0" y="0"/>
                </a:moveTo>
                <a:lnTo>
                  <a:pt x="3075924" y="0"/>
                </a:lnTo>
                <a:arcTo hR="66158" wR="66156" stAng="16200000" swAng="5400000"/>
                <a:lnTo>
                  <a:pt x="3142080" y="673298"/>
                </a:lnTo>
                <a:lnTo>
                  <a:pt x="0" y="673298"/>
                </a:lnTo>
                <a:lnTo>
                  <a:pt x="0" y="0"/>
                </a:lnTo>
                <a:close/>
              </a:path>
            </a:pathLst>
          </a:custGeom>
          <a:solidFill>
            <a:srgbClr val="3D3D42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809905" y="4091880"/>
            <a:ext cx="25399" cy="673298"/>
          </a:xfrm>
          <a:prstGeom prst="roundRect">
            <a:avLst>
              <a:gd name="adj" fmla="val 50001"/>
            </a:avLst>
          </a:prstGeom>
          <a:solidFill>
            <a:srgbClr val="56565B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998912" y="4280892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Understand the Answer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667825" y="4765179"/>
            <a:ext cx="6284160" cy="673298"/>
          </a:xfrm>
          <a:custGeom>
            <a:avLst/>
            <a:gdLst/>
            <a:ahLst/>
            <a:cxnLst/>
            <a:rect l="l" t="t" r="r" b="b"/>
            <a:pathLst>
              <a:path w="6284160" h="673298">
                <a:moveTo>
                  <a:pt x="0" y="0"/>
                </a:moveTo>
                <a:lnTo>
                  <a:pt x="6284160" y="0"/>
                </a:lnTo>
                <a:lnTo>
                  <a:pt x="6284160" y="607140"/>
                </a:lnTo>
                <a:arcTo hR="66158" wR="66156" stAng="0" swAng="5400000"/>
                <a:lnTo>
                  <a:pt x="66156" y="673298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3D3D42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67825" y="4765179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56832" y="495419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Discover the Insight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61475" y="5728295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D9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QUERYMIND</a:t>
            </a:r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— Ask Better Questions. Discover Better Insights.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2026-09-13T08:30:59Z</dcterms:created>
  <dcterms:modified xsi:type="dcterms:W3CDTF">2026-09-13T08:30:59Z</dcterms:modified>
</cp:coreProperties>
</file>